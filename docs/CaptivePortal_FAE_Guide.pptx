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88952" cy="73152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 dirty="0">
                <a:solidFill>
                  <a:srgbClr val="FFFFFF"/>
                </a:solidFill>
              </a:rPr>
              <a:t>Captive Portal Gateway</a:t>
            </a:r>
            <a:r>
              <a:rPr lang="zh-TW" altLang="en-US" sz="4400" b="1" i="0" dirty="0">
                <a:solidFill>
                  <a:srgbClr val="FFFFFF"/>
                </a:solidFill>
              </a:rPr>
              <a:t> </a:t>
            </a:r>
            <a:r>
              <a:rPr lang="en-US" altLang="zh-TW" sz="4400" b="1" i="0" dirty="0">
                <a:solidFill>
                  <a:srgbClr val="FFFFFF"/>
                </a:solidFill>
              </a:rPr>
              <a:t>POC</a:t>
            </a:r>
            <a:endParaRPr sz="4400" b="1" i="0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E8722A"/>
                </a:solidFill>
              </a:rPr>
              <a:t>解決方案技術與操作說明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B0C8E8"/>
                </a:solidFill>
              </a:rPr>
              <a:t>Moxa V2400 / V3400</a:t>
            </a:r>
            <a:r>
              <a:rPr lang="zh-TW" altLang="en-US" sz="1600" b="0" i="0" dirty="0">
                <a:solidFill>
                  <a:srgbClr val="B0C8E8"/>
                </a:solidFill>
              </a:rPr>
              <a:t> </a:t>
            </a:r>
            <a:r>
              <a:rPr lang="en-US" altLang="zh-TW" sz="1600" b="0" i="0" dirty="0">
                <a:solidFill>
                  <a:srgbClr val="B0C8E8"/>
                </a:solidFill>
              </a:rPr>
              <a:t>V1200</a:t>
            </a:r>
            <a:r>
              <a:rPr sz="1600" b="0" i="0" dirty="0">
                <a:solidFill>
                  <a:srgbClr val="B0C8E8"/>
                </a:solidFill>
              </a:rPr>
              <a:t>  ·  Debian 12  ·  </a:t>
            </a:r>
            <a:r>
              <a:rPr sz="1600" b="0" i="0" dirty="0" err="1">
                <a:solidFill>
                  <a:srgbClr val="B0C8E8"/>
                </a:solidFill>
              </a:rPr>
              <a:t>CoovaChilli</a:t>
            </a:r>
            <a:r>
              <a:rPr sz="1600" b="0" i="0" dirty="0">
                <a:solidFill>
                  <a:srgbClr val="B0C8E8"/>
                </a:solidFill>
              </a:rPr>
              <a:t> + </a:t>
            </a:r>
            <a:r>
              <a:rPr sz="1600" b="0" i="0" dirty="0" err="1">
                <a:solidFill>
                  <a:srgbClr val="B0C8E8"/>
                </a:solidFill>
              </a:rPr>
              <a:t>FreeRADIUS</a:t>
            </a:r>
            <a:r>
              <a:rPr sz="1600" b="0" i="0" dirty="0">
                <a:solidFill>
                  <a:srgbClr val="B0C8E8"/>
                </a:solidFill>
              </a:rPr>
              <a:t> + </a:t>
            </a:r>
            <a:r>
              <a:rPr sz="1600" b="0" i="0" dirty="0" err="1">
                <a:solidFill>
                  <a:srgbClr val="B0C8E8"/>
                </a:solidFill>
              </a:rPr>
              <a:t>daloRADIUS</a:t>
            </a:r>
            <a:endParaRPr sz="1600" b="0" i="0" dirty="0">
              <a:solidFill>
                <a:srgbClr val="B0C8E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0A0C0"/>
                </a:solidFill>
              </a:rPr>
              <a:t>FAE / AE 技術參考文件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080A0"/>
                </a:solidFill>
              </a:rPr>
              <a:t>2026-05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議程 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303520" cy="7772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48640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627632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722A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162763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解決方案定位與硬體平台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23160"/>
            <a:ext cx="5303520" cy="7772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423160"/>
            <a:ext cx="548640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2587752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722A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58775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軟體架構總覽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83280"/>
            <a:ext cx="5303520" cy="7772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383280"/>
            <a:ext cx="548640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" y="3547872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722A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54787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系統網路拓樸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343400"/>
            <a:ext cx="5303520" cy="7772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4343400"/>
            <a:ext cx="548640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" y="4507992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722A"/>
                </a:solidFill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450799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CoovaChilli 核心機制（tun0 / L2）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303520"/>
            <a:ext cx="5303520" cy="7772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5303520"/>
            <a:ext cx="548640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" y="5468112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722A"/>
                </a:solidFill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546811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Client 認證流程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463040"/>
            <a:ext cx="5303520" cy="7772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0" y="1463040"/>
            <a:ext cx="548640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19088" y="1627632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722A"/>
                </a:solidFill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162763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WISPr 限速機制與調整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423160"/>
            <a:ext cx="5303520" cy="7772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00800" y="2423160"/>
            <a:ext cx="548640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19088" y="2587752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722A"/>
                </a:solidFill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9168" y="258775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daloRADIUS 管理後台操作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383280"/>
            <a:ext cx="5303520" cy="7772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400800" y="3383280"/>
            <a:ext cx="548640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19088" y="3547872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722A"/>
                </a:solidFill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9168" y="354787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CoA 即時踢人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4343400"/>
            <a:ext cx="5303520" cy="7772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400800" y="4343400"/>
            <a:ext cx="548640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19088" y="4507992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722A"/>
                </a:solidFill>
              </a:rP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9168" y="450799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v1 MVP 驗證結果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5303520"/>
            <a:ext cx="5303520" cy="7772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400800" y="5303520"/>
            <a:ext cx="548640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19088" y="5468112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722A"/>
                </a:solidFill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9168" y="546811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後續 v2 規劃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解決方案定位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722A"/>
                </a:solidFill>
              </a:rPr>
              <a:t>Network Access Control + Captive Portal + AAA on Moxa Industrial PC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3749039" cy="51663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3749039" cy="475488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" y="1463040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🎯  使用情境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05740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</a:rPr>
              <a:t>▸  工廠訪客網路管控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25603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</a:rPr>
              <a:t>▸  飯店/辦公室 Wi-Fi 認證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30632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</a:rPr>
              <a:t>▸  工業現場 NAC 邊緣閘道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35661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</a:rPr>
              <a:t>▸  IoT 設備網路存取控制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417320"/>
            <a:ext cx="3749039" cy="51663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51960" y="1417320"/>
            <a:ext cx="3749039" cy="475488"/>
          </a:xfrm>
          <a:prstGeom prst="rect">
            <a:avLst/>
          </a:prstGeom>
          <a:solidFill>
            <a:srgbClr val="16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61688" y="1463040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⚙️  核心功能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205740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</a:rPr>
              <a:t>▸  Captive Portal 強制登入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25603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</a:rPr>
              <a:t>▸  RADIUS AAA 認證/授權/計費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30632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</a:rPr>
              <a:t>▸  Per-user 頻寬限制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35661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</a:rPr>
              <a:t>▸  即時踢人（CoA / PoD）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80" y="1417320"/>
            <a:ext cx="3749039" cy="51663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83880" y="1417320"/>
            <a:ext cx="3749039" cy="475488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93608" y="1463040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💡  設計原則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2" y="205740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</a:rPr>
              <a:t>▸  能用現成套件就用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8472" y="25603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</a:rPr>
              <a:t>▸  架構越單純越好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2" y="30632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</a:rPr>
              <a:t>▸  自寫 code ≤ 100 行 shell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8472" y="35661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</a:rPr>
              <a:t>▸  可示範、可壓測、可上線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6309360"/>
            <a:ext cx="11521440" cy="347472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336792"/>
            <a:ext cx="11247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硬體平台：Moxa V2400 / V3400  x86 工業電腦  |  OS：Debian 12 (bookworm)  |  架構：aarch64 / x86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軟體架構總覽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722A"/>
                </a:solidFill>
              </a:rPr>
              <a:t>全套現成套件 — 零自寫應用程式碼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1417320"/>
            <a:ext cx="11704320" cy="384048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43560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7088" y="14356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套件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43560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Debian Package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43560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用途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1801368"/>
            <a:ext cx="11704320" cy="53035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" y="189280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6E"/>
                </a:solidFill>
              </a:rPr>
              <a:t>Captive Portal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47088" y="189280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7A8C"/>
                </a:solidFill>
              </a:rPr>
              <a:t>CoovaChilli 1.6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189280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coova-chilli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1892808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UAM redirect、DHCP、DNS hijack、RADIUS client、leaky bucket 限速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350008"/>
            <a:ext cx="117043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4320" y="244144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6E"/>
                </a:solidFill>
              </a:rPr>
              <a:t>AAA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47088" y="244144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7A8C"/>
                </a:solidFill>
              </a:rPr>
              <a:t>FreeRADIUS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244144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freeradius + freeradius-mysql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441448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認證 / 授權 / Accounting，後端 MariaDB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2898648"/>
            <a:ext cx="11704320" cy="53035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4320" y="299008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6E"/>
                </a:solidFill>
              </a:rPr>
              <a:t>Admin Web 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47088" y="299008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7A8C"/>
                </a:solidFill>
              </a:rPr>
              <a:t>daloRADIUS 1.3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299008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GitHub release (PHP)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2990088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使用者管理 / 報表 / CoA 踢人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3447288"/>
            <a:ext cx="117043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4320" y="353872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6E"/>
                </a:solidFill>
              </a:rPr>
              <a:t>Web Server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47088" y="353872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7A8C"/>
                </a:solidFill>
              </a:rPr>
              <a:t>Apache 2.4 + PHP 8.2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353872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apache2, php, php-mysql…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3538728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daloRADIUS 執行環境 + CGI portal 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3995928"/>
            <a:ext cx="11704320" cy="53035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4320" y="408736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6E"/>
                </a:solidFill>
              </a:rPr>
              <a:t>Database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47088" y="408736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7A8C"/>
                </a:solidFill>
              </a:rPr>
              <a:t>MariaDB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03320" y="408736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mariadb-server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4087368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FreeRADIUS + daloRADIUS 共用同一 instance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4544568"/>
            <a:ext cx="117043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74320" y="463600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6E"/>
                </a:solidFill>
              </a:rPr>
              <a:t>Firewall/NAT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47088" y="463600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7A8C"/>
                </a:solidFill>
              </a:rPr>
              <a:t>nftables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03320" y="463600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nftables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4636008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Pre/post-auth 規則、masquerade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5093208"/>
            <a:ext cx="11704320" cy="53035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74320" y="518464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6E"/>
                </a:solidFill>
              </a:rPr>
              <a:t>Cellular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47088" y="518464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7A8C"/>
                </a:solidFill>
              </a:rPr>
              <a:t>ModemManager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03320" y="518464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modemmanager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5184648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4G/5G 模組管理（v2）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00" y="5641848"/>
            <a:ext cx="117043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74320" y="573328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6E"/>
                </a:solidFill>
              </a:rPr>
              <a:t>WAN Failover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47088" y="573328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7A8C"/>
                </a:solidFill>
              </a:rPr>
              <a:t>keepalived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03320" y="573328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keepalived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5733288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ping healthcheck + route 切換（v2）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4320" y="6355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722A"/>
                </a:solidFill>
              </a:rPr>
              <a:t>★  自寫 code 量目標：≤ 100 行 shell（cellular failover healthcheck），其餘全靠設定檔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系統網路拓樸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722A"/>
                </a:solidFill>
              </a:rPr>
              <a:t>物理與邏輯介面配置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058400" y="2103120"/>
            <a:ext cx="2011680" cy="822960"/>
          </a:xfrm>
          <a:prstGeom prst="rect">
            <a:avLst/>
          </a:prstGeom>
          <a:solidFill>
            <a:srgbClr val="16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149840" y="214884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🌐  Internet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371600"/>
            <a:ext cx="5120640" cy="5029200"/>
          </a:xfrm>
          <a:prstGeom prst="rect">
            <a:avLst/>
          </a:prstGeom>
          <a:solidFill>
            <a:srgbClr val="EEF5FF"/>
          </a:solidFill>
          <a:ln w="25400">
            <a:solidFill>
              <a:srgbClr val="1A3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66160" y="1417320"/>
            <a:ext cx="4937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1A3C6E"/>
                </a:solidFill>
              </a:rPr>
              <a:t>Moxa V2400 / V3400</a:t>
            </a:r>
            <a:r>
              <a:rPr lang="en-US" sz="1100" b="1" i="0" dirty="0">
                <a:solidFill>
                  <a:srgbClr val="1A3C6E"/>
                </a:solidFill>
              </a:rPr>
              <a:t> / V1200</a:t>
            </a:r>
            <a:r>
              <a:rPr sz="1100" b="1" i="0" dirty="0">
                <a:solidFill>
                  <a:srgbClr val="1A3C6E"/>
                </a:solidFill>
              </a:rPr>
              <a:t>  —  Debian 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1920240"/>
            <a:ext cx="2286000" cy="749808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49040" y="19659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CoovaChilli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30428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8722A"/>
                </a:solidFill>
              </a:rPr>
              <a:t>tun0 192.168.182.0/24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920240"/>
            <a:ext cx="2286000" cy="749808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19659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FreeRADIUS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30428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8722A"/>
                </a:solidFill>
              </a:rPr>
              <a:t>127.0.0.1:1812/1813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2926080"/>
            <a:ext cx="2286000" cy="749808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49040" y="29718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MariaDB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331012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8722A"/>
                </a:solidFill>
              </a:rPr>
              <a:t>radius DB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2926080"/>
            <a:ext cx="2286000" cy="749808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29718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Apache+PHP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31012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8722A"/>
                </a:solidFill>
              </a:rPr>
              <a:t>daloRADIUS /daloradius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95360" y="2740248"/>
            <a:ext cx="1463040" cy="347472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50681" y="2798064"/>
            <a:ext cx="1426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eth0 (WAN)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8595360" y="2834640"/>
            <a:ext cx="1463040" cy="0"/>
          </a:xfrm>
          <a:prstGeom prst="line">
            <a:avLst/>
          </a:prstGeom>
          <a:ln w="25400">
            <a:solidFill>
              <a:srgbClr val="E872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78240" y="254203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E8722A"/>
                </a:solidFill>
              </a:rPr>
              <a:t>Internet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0" y="2651760"/>
            <a:ext cx="1463040" cy="347472"/>
          </a:xfrm>
          <a:prstGeom prst="rect">
            <a:avLst/>
          </a:prstGeom>
          <a:solidFill>
            <a:srgbClr val="16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029968" y="2670048"/>
            <a:ext cx="1426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eth1 (LAN)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2011680"/>
            <a:ext cx="2011680" cy="822960"/>
          </a:xfrm>
          <a:prstGeom prst="rect">
            <a:avLst/>
          </a:prstGeom>
          <a:solidFill>
            <a:srgbClr val="16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4320" y="20574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📶  Wi-Fi 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2423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D0F0"/>
                </a:solidFill>
              </a:rPr>
              <a:t>Bridge Mode (L2)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194560" y="2423160"/>
            <a:ext cx="1280160" cy="0"/>
          </a:xfrm>
          <a:prstGeom prst="line">
            <a:avLst/>
          </a:prstGeom>
          <a:ln w="25400">
            <a:solidFill>
              <a:srgbClr val="167A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286000" y="213055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167A8C"/>
                </a:solidFill>
              </a:rPr>
              <a:t>L2 Bridge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95360" y="3840480"/>
            <a:ext cx="1463040" cy="3474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13648" y="3858768"/>
            <a:ext cx="1426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wwan0 (Cellular)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42062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E44AD"/>
                </a:solidFill>
              </a:rPr>
              <a:t>（v2）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2880" y="4572000"/>
            <a:ext cx="2011680" cy="822960"/>
          </a:xfrm>
          <a:prstGeom prst="rect">
            <a:avLst/>
          </a:prstGeom>
          <a:solidFill>
            <a:srgbClr val="276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74320" y="461772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💻  Admin PC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4983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D0F0"/>
                </a:solidFill>
              </a:rPr>
              <a:t>10.90.x.x / MGMT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" y="54406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76B45"/>
                </a:solidFill>
              </a:rPr>
              <a:t>daloRADIUS UI
https://10.90.35.42/daloradius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" y="3474720"/>
            <a:ext cx="2011680" cy="82296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74320" y="352044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📱  Client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3886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D0F0"/>
                </a:solidFill>
              </a:rPr>
              <a:t>192.168.182.x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CoovaChilli 核心機制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722A"/>
                </a:solidFill>
              </a:rPr>
              <a:t>為什麼需要 tun0？Wi-Fi AP 為何要 Bridge Mode？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5486400" cy="51663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5486400" cy="384048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4447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① 為什麼需要 tun0？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1371600" cy="475488"/>
          </a:xfrm>
          <a:prstGeom prst="rect">
            <a:avLst/>
          </a:prstGeom>
          <a:solidFill>
            <a:srgbClr val="16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" y="2103120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Client 封包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10312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eth1 raw socket → CoovaChilli userspace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8716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722A"/>
                </a:solidFill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61488"/>
            <a:ext cx="1371600" cy="475488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" y="2852928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chilli 判斷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285292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未認證 → redirect portal / 已認證 → 放行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23697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722A"/>
                </a:solidFill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511296"/>
            <a:ext cx="1371600" cy="475488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5488" y="3602736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inject tun0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360273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chilli 把封包寫入 tun0（虛擬介面）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98678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722A"/>
                </a:solidFill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61104"/>
            <a:ext cx="1371600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" y="4352544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kernel 接手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4352544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routing / nftables / masquerade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010912"/>
            <a:ext cx="1371600" cy="475488"/>
          </a:xfrm>
          <a:prstGeom prst="rect">
            <a:avLst/>
          </a:prstGeom>
          <a:solidFill>
            <a:srgbClr val="16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5488" y="5102352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eth0 → Internet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510235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封包送出 WAN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5943600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6E"/>
                </a:solidFill>
              </a:rPr>
              <a:t>eth0/eth1 寫入 = 送上實體網線
tun0 寫入   = 注入 kernel IP 堆疊 → routing 接手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1417320"/>
            <a:ext cx="5760720" cy="51663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26480" y="1417320"/>
            <a:ext cx="5760720" cy="384048"/>
          </a:xfrm>
          <a:prstGeom prst="rect">
            <a:avLst/>
          </a:prstGeom>
          <a:solidFill>
            <a:srgbClr val="16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17920" y="144475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② Wi-Fi AP 必須 Bridge Mode（L2）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1965960"/>
            <a:ext cx="5486400" cy="4572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63640" y="203911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AP 模式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203911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chilli 看到的 MAC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40" y="203911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結果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2441448"/>
            <a:ext cx="5486400" cy="45720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63640" y="251460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Bridge (L2) 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25146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每個 client 真實 MAC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21240" y="251460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✅ 各自認證/計費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2916936"/>
            <a:ext cx="5486400" cy="4572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63640" y="299008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Router/NAT 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299008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只有 AP 的一個 MAC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21240" y="299008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❌ 所有人同一 session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10896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chilli 用 MAC 識別每個 client：
▸  哪個 MAC → 是否通過 portal 認證
▸  哪個 MAC → 對應哪個 RADIUS session
▸  L2 bridge 讓 client MAC 直接穿透 AP 到 eth1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484632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6E"/>
                </a:solidFill>
              </a:rPr>
              <a:t>AP 設定重點：關掉 DHCP、關掉 NAT、選 Access Point / Bridge 模式
DHCP 由 chilli 統一發放（192.168.182.0/24）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Client 認證流程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722A"/>
                </a:solidFill>
              </a:rPr>
              <a:t>從接入到上網的完整步驟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5669280" cy="1463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548640" cy="1463040"/>
          </a:xfrm>
          <a:prstGeom prst="rect">
            <a:avLst/>
          </a:prstGeom>
          <a:solidFill>
            <a:srgbClr val="16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965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57276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7A8C"/>
                </a:solidFill>
              </a:rPr>
              <a:t>① DHCP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965960"/>
            <a:ext cx="48463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Client 連 eth1 → chilli 發 192.168.182.x IP
DNS 指向 192.168.182.1（chilli 劫持）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5669280" cy="1463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548640" cy="1463040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40" y="1965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157276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722A"/>
                </a:solidFill>
              </a:rPr>
              <a:t>② HTTP 攔截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1965960"/>
            <a:ext cx="48463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Client 開任意 http:// → chilli 回 302
導向 http://192.168.182.1/cgi-bin/hotspotlogin.cgi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063240"/>
            <a:ext cx="5669280" cy="1463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3063240"/>
            <a:ext cx="548640" cy="1463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" y="3566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317296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C6E"/>
                </a:solidFill>
              </a:rPr>
              <a:t>③ Portal 登入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3566160"/>
            <a:ext cx="48463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User 輸入帳密 → CHAP 加密 → hotspotlogin.cgi
送 UAM redirect 給 chilli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063240"/>
            <a:ext cx="5669280" cy="1463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3063240"/>
            <a:ext cx="548640" cy="1463040"/>
          </a:xfrm>
          <a:prstGeom prst="rect">
            <a:avLst/>
          </a:prstGeom>
          <a:solidFill>
            <a:srgbClr val="16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63640" y="3566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6288" y="317296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7A8C"/>
                </a:solidFill>
              </a:rPr>
              <a:t>④ RADIUS Auth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6288" y="3566160"/>
            <a:ext cx="48463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chilli → FreeRADIUS Access-Request
FreeRADIUS 查 MariaDB radcheck 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663440"/>
            <a:ext cx="5669280" cy="1463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74320" y="4663440"/>
            <a:ext cx="548640" cy="1463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0040" y="5166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477316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⑤ Access-Accept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166360"/>
            <a:ext cx="48463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FreeRADIUS 回傳 Access-Accept + reply attrs
（Session-Timeout、WISPr-Bandwidth、…）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663440"/>
            <a:ext cx="5669280" cy="1463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17920" y="4663440"/>
            <a:ext cx="548640" cy="1463040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63640" y="5166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76288" y="477316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722A"/>
                </a:solidFill>
              </a:rPr>
              <a:t>⑥ 上網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76288" y="5166360"/>
            <a:ext cx="48463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chilli 設定 leaky bucket 限速 + 開放轉發
Client 流量 tun0 → kernel → NAT → Internet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6400800"/>
            <a:ext cx="1161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6E"/>
                </a:solidFill>
              </a:rPr>
              <a:t>OS Captive Detection：iOS / Android / Windows 開機自動偵測 HTTP 攔截 → 彈出 CNA 視窗（零點擊）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WISPr 頻寬限制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722A"/>
                </a:solidFill>
              </a:rPr>
              <a:t>Per-user 限速機制、調整方式與驗證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5029200" cy="51663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5029200" cy="384048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44475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機制說明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920240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 RADIUS reply 回傳 WISPr 屬性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49424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6E"/>
                </a:solidFill>
              </a:rPr>
              <a:t>▸  WISPr-Bandwidth-Max-Down（bps）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578608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6E"/>
                </a:solidFill>
              </a:rPr>
              <a:t>▸  WISPr-Bandwidth-Max-Up（bps）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236976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 CoovaChilli 1.6 用 Leaky Bucket 實作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566160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     （非 tc/HTB，userspace 軟體限速）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224528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 適用範圍：tun0 所有轉發流量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553712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      （client ↔ internet）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1417320"/>
            <a:ext cx="6309360" cy="228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577840" y="1417320"/>
            <a:ext cx="6309360" cy="384048"/>
          </a:xfrm>
          <a:prstGeom prst="rect">
            <a:avLst/>
          </a:prstGeom>
          <a:solidFill>
            <a:srgbClr val="16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0" y="1444752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限速值對照表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77840" y="1874519"/>
            <a:ext cx="6309360" cy="3657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0" y="1920239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速度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1920239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填入值 (bps)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1920239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實際速率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04120" y="1920239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測試結果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77840" y="2258567"/>
            <a:ext cx="63093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69280" y="2304287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512 Kbps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2304287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512000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2304287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~64 KB/s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20" y="2304287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1MB 約 15.6s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77840" y="2642615"/>
            <a:ext cx="6309360" cy="36576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69280" y="2688335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6E"/>
                </a:solidFill>
              </a:rPr>
              <a:t>1 Mbps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2688335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6E"/>
                </a:solidFill>
              </a:rPr>
              <a:t>1000000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2688335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6E"/>
                </a:solidFill>
              </a:rPr>
              <a:t>~125 KB/s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04120" y="2688335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6E"/>
                </a:solidFill>
              </a:rPr>
              <a:t>1MB 約 8.0s ← 實測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77840" y="3026663"/>
            <a:ext cx="63093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69280" y="3072383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5 Mbps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3072383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5000000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41080" y="3072383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~625 KB/s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04120" y="3072383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1MB 約 1.6s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77840" y="3410711"/>
            <a:ext cx="63093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669280" y="3456431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無限制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78040" y="3456431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0 或刪row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41080" y="3456431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04120" y="3456431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77840" y="3840480"/>
            <a:ext cx="6309360" cy="2724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577840" y="3840480"/>
            <a:ext cx="6309360" cy="384048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669280" y="3867912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調整與測試流程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15000" y="4315968"/>
            <a:ext cx="6035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33333"/>
                </a:solidFill>
              </a:rPr>
              <a:t>1. daloRADIUS → testuser → Reply Attributes → 改值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15000" y="4663440"/>
            <a:ext cx="6035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   或 SQL: UPDATE radreply SET value=5000000 WHERE ...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15000" y="5010912"/>
            <a:ext cx="6035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33333"/>
                </a:solidFill>
              </a:rPr>
              <a:t>2. Disconnect User（CoA 踢人）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15000" y="5358384"/>
            <a:ext cx="6035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33333"/>
                </a:solidFill>
              </a:rPr>
              <a:t>3. Client 重新登入 portal（套新值）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15000" y="5705856"/>
            <a:ext cx="6035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33333"/>
                </a:solidFill>
              </a:rPr>
              <a:t>4. wget speedtest.tele2.net/1MB.zip -O /dev/null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15000" y="6053328"/>
            <a:ext cx="6035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33333"/>
                </a:solidFill>
              </a:rPr>
              <a:t>5. 驗算：預期秒數 = 1048576 ÷ (bps÷8)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23560" y="6309360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722A"/>
                </a:solidFill>
              </a:rPr>
              <a:t>⚠ 修改 radreply 後必須斷線重連，chilli 在新 auth 時才讀新值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 err="1">
                <a:solidFill>
                  <a:srgbClr val="FFFFFF"/>
                </a:solidFill>
              </a:rPr>
              <a:t>daloRADIUS</a:t>
            </a:r>
            <a:r>
              <a:rPr sz="2800" b="1" i="0" dirty="0">
                <a:solidFill>
                  <a:srgbClr val="FFFFFF"/>
                </a:solidFill>
              </a:rPr>
              <a:t> </a:t>
            </a:r>
            <a:r>
              <a:rPr sz="2800" b="1" i="0" dirty="0" err="1">
                <a:solidFill>
                  <a:srgbClr val="FFFFFF"/>
                </a:solidFill>
              </a:rPr>
              <a:t>管理後台</a:t>
            </a:r>
            <a:endParaRPr sz="2800" b="1" i="0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722A"/>
                </a:solidFill>
              </a:rPr>
              <a:t>URL / 帳號 / 主要操作功能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11612880" cy="5029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52704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722A"/>
                </a:solidFill>
              </a:rPr>
              <a:t>🔗  https://&lt;GW-IP&gt;/daloradius/     帳號: administrator / radius（預設，建議上線前改）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48840"/>
            <a:ext cx="5669280" cy="21945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2148840"/>
            <a:ext cx="5669280" cy="457200"/>
          </a:xfrm>
          <a:prstGeom prst="rect">
            <a:avLst/>
          </a:prstGeom>
          <a:solidFill>
            <a:srgbClr val="16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219456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👤  使用者管理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62432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3C6E"/>
                </a:solidFill>
              </a:rPr>
              <a:t>Management → 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7180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 新增帳號：New User / New User Quick Add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00984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 編輯帳號：Edit User → Account Info / Reply Attributes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3016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 搜尋帳號：Search 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5935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 刪除帳號：Remove Users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148840"/>
            <a:ext cx="5669280" cy="21945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2148840"/>
            <a:ext cx="5669280" cy="457200"/>
          </a:xfrm>
          <a:prstGeom prst="rect">
            <a:avLst/>
          </a:prstGeom>
          <a:solidFill>
            <a:srgbClr val="16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27648" y="219456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📊  即時監控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62432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3C6E"/>
                </a:solidFill>
              </a:rPr>
              <a:t>Reports → Online Users / Last Connections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97180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 查看目前在線 client 清單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300984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 查看最近認證記錄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63016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 Session 開始時間 / IP / MAC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5935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 Accounting 流量統計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480560"/>
            <a:ext cx="5669280" cy="21945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4320" y="4480560"/>
            <a:ext cx="5669280" cy="457200"/>
          </a:xfrm>
          <a:prstGeom prst="rect">
            <a:avLst/>
          </a:prstGeom>
          <a:solidFill>
            <a:srgbClr val="16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4048" y="452628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🔧  CoA 踢人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495604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3C6E"/>
                </a:solidFill>
              </a:rPr>
              <a:t>Config → Maintenance → Disconnect User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30352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 選 username → Packet Type: PoD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632704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 NAS IP: chilli 127.0.0.1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96188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 NAS Port: 3799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29107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 點 Disconnect User → 收到 Disconnect-ACK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480560"/>
            <a:ext cx="5669280" cy="21945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17920" y="4480560"/>
            <a:ext cx="5669280" cy="457200"/>
          </a:xfrm>
          <a:prstGeom prst="rect">
            <a:avLst/>
          </a:prstGeom>
          <a:solidFill>
            <a:srgbClr val="16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27648" y="452628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📋  Accounting 報表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27648" y="495604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3C6E"/>
                </a:solidFill>
              </a:rPr>
              <a:t>Accounting → All / By Username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30352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 查詢每個 user 的用量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632704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 起訖時間 / 上下行流量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96188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 acctterminatecause 顯示斷線原因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629107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▸  Admin-Reset = 被 CoA 踢掉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6473952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</a:rPr>
              <a:t>daloRADIUS 目錄結構（v1.3）：所有 PHP 直接在 /opt/daloradius/，無 app/operators/ 子目錄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CoA / PoD 即時踢人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722A"/>
                </a:solidFill>
              </a:rPr>
              <a:t>Change of Authorization — 強制終止 client session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5303520" cy="51663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5303520" cy="384048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44475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PoD 封包流向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2011680" cy="658368"/>
          </a:xfrm>
          <a:prstGeom prst="rect">
            <a:avLst/>
          </a:prstGeom>
          <a:solidFill>
            <a:srgbClr val="16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" y="1965960"/>
            <a:ext cx="197510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Admin 按下
Disconnect 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01168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daloRADIUS Web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57860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8722A"/>
                </a:solidFill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88920"/>
            <a:ext cx="2011680" cy="658368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" y="2834640"/>
            <a:ext cx="197510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radclient 送出
Disconnect-Request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28803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UDP 127.0.0.1:3799
User-Name = testuser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44728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8722A"/>
                </a:solidFill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57600"/>
            <a:ext cx="2011680" cy="658368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5488" y="3703320"/>
            <a:ext cx="197510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CoovaChilli
收到 PoD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374904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coaport=3799
驗證 radiussecret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31596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8722A"/>
                </a:solidFill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526280"/>
            <a:ext cx="2011680" cy="6583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" y="4572000"/>
            <a:ext cx="197510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Disconnect-ACK
回傳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461772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chilli 踢掉 client session
leaky bucket 釋放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8464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8722A"/>
                </a:solidFill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394960"/>
            <a:ext cx="2011680" cy="658368"/>
          </a:xfrm>
          <a:prstGeom prst="rect">
            <a:avLst/>
          </a:prstGeom>
          <a:solidFill>
            <a:srgbClr val="16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5488" y="5440680"/>
            <a:ext cx="197510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radacct 更新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548640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AcctStopTime = 現在
AcctTerminateCause = Admin-Reset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160" y="1417320"/>
            <a:ext cx="6035040" cy="228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852160" y="1417320"/>
            <a:ext cx="6035040" cy="384048"/>
          </a:xfrm>
          <a:prstGeom prst="rect">
            <a:avLst/>
          </a:prstGeom>
          <a:solidFill>
            <a:srgbClr val="16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0" y="1444752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實際執行結果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52160" y="1828800"/>
            <a:ext cx="6035040" cy="18288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89320" y="1938528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D8E6"/>
                </a:solidFill>
              </a:rPr>
              <a:t>Sent Disconnect-Request Id 237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2185416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D8E6"/>
                </a:solidFill>
              </a:rPr>
              <a:t>  from 0.0.0.0:39556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2432304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D8E6"/>
                </a:solidFill>
              </a:rPr>
              <a:t>  to 127.0.0.1:3799 length 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2679192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D8E6"/>
                </a:solidFill>
              </a:rPr>
              <a:t>User-Name = "testuser"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9320" y="292608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D8E6"/>
                </a:solidFill>
              </a:rPr>
              <a:t>Received Disconnect-ACK Id 237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9320" y="3172968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D8E6"/>
                </a:solidFill>
              </a:rPr>
              <a:t>  from 127.0.0.1:3799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3419856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D8E6"/>
                </a:solidFill>
              </a:rPr>
              <a:t>  to 127.0.0.1:39556 length 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52160" y="3794760"/>
            <a:ext cx="6035040" cy="2788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852160" y="3794760"/>
            <a:ext cx="6035040" cy="384048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943600" y="3822191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radacct 驗證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52160" y="4206240"/>
            <a:ext cx="6035040" cy="23317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989320" y="4315968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D8E6"/>
                </a:solidFill>
              </a:rPr>
              <a:t>mysql&gt; SELECT username,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89320" y="4562856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D8E6"/>
                </a:solidFill>
              </a:rPr>
              <a:t>  acctstarttime, acctstoptime,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89320" y="4809744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D8E6"/>
                </a:solidFill>
              </a:rPr>
              <a:t>  acctterminatecause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89320" y="5056632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D8E6"/>
                </a:solidFill>
              </a:rPr>
              <a:t>  FROM radacct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89320" y="530352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D8E6"/>
                </a:solidFill>
              </a:rPr>
              <a:t>  WHERE username='testuser'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89320" y="5550408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D8E6"/>
                </a:solidFill>
              </a:rPr>
              <a:t>  ORDER BY acctstarttime DESC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89320" y="5797296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D8E6"/>
                </a:solidFill>
              </a:rPr>
              <a:t>  LIMIT 1;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89320" y="6044184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989320" y="6291072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D8E6"/>
                </a:solidFill>
              </a:rPr>
              <a:t>testuser | 08:45:09 | 09:22:09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89320" y="653796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D8E6"/>
                </a:solidFill>
              </a:rPr>
              <a:t>acctterminatecause: Admin-Reset 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v1 MVP 驗證結果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722A"/>
                </a:solidFill>
              </a:rPr>
              <a:t>11 項測試項目全數通過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5669280" cy="749808"/>
          </a:xfrm>
          <a:prstGeom prst="rect">
            <a:avLst/>
          </a:prstGeom>
          <a:solidFill>
            <a:srgbClr val="EAF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502920" cy="7498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" y="16276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1790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6E"/>
                </a:solidFill>
              </a:rPr>
              <a:t>DHCP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65376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Client 接 LAN → 取得 192.168.182.x IP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304288"/>
            <a:ext cx="5669280" cy="749808"/>
          </a:xfrm>
          <a:prstGeom prst="rect">
            <a:avLst/>
          </a:prstGeom>
          <a:solidFill>
            <a:srgbClr val="EAF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2304288"/>
            <a:ext cx="502920" cy="7498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24688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35915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6E"/>
                </a:solidFill>
              </a:rPr>
              <a:t>Portal Redirect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706624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HTTP 任意站 → 302 導向 hotspotlogin.cgi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145536"/>
            <a:ext cx="5669280" cy="749808"/>
          </a:xfrm>
          <a:prstGeom prst="rect">
            <a:avLst/>
          </a:prstGeom>
          <a:solidFill>
            <a:srgbClr val="EAF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3145536"/>
            <a:ext cx="502920" cy="7498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7472" y="331012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2004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6E"/>
                </a:solidFill>
              </a:rPr>
              <a:t>OS 偵測 (CNA)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54787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iOS / Android / Windows 自動彈認證視窗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986784"/>
            <a:ext cx="5669280" cy="749808"/>
          </a:xfrm>
          <a:prstGeom prst="rect">
            <a:avLst/>
          </a:prstGeom>
          <a:solidFill>
            <a:srgbClr val="EAF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4320" y="3986784"/>
            <a:ext cx="502920" cy="7498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7472" y="41513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04164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6E"/>
                </a:solidFill>
              </a:rPr>
              <a:t>RADIUS 認證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38912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testuser/test1234 登入成功，Access-Accept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828032"/>
            <a:ext cx="5669280" cy="749808"/>
          </a:xfrm>
          <a:prstGeom prst="rect">
            <a:avLst/>
          </a:prstGeom>
          <a:solidFill>
            <a:srgbClr val="EAF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74320" y="4828032"/>
            <a:ext cx="502920" cy="7498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47472" y="499262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88289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6E"/>
                </a:solidFill>
              </a:rPr>
              <a:t>Accounting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230368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radacct 有 Start record，AcctStopTime NULL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669280"/>
            <a:ext cx="5669280" cy="749808"/>
          </a:xfrm>
          <a:prstGeom prst="rect">
            <a:avLst/>
          </a:prstGeom>
          <a:solidFill>
            <a:srgbClr val="EAF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74320" y="5669280"/>
            <a:ext cx="502920" cy="7498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7472" y="583387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72414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6E"/>
                </a:solidFill>
              </a:rPr>
              <a:t>daloRADIUS 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6071616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線上使用者、accounting 報表正常顯示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1463040"/>
            <a:ext cx="5669280" cy="749808"/>
          </a:xfrm>
          <a:prstGeom prst="rect">
            <a:avLst/>
          </a:prstGeom>
          <a:solidFill>
            <a:srgbClr val="EAF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17920" y="1463040"/>
            <a:ext cx="502920" cy="7498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91072" y="16276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151790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6E"/>
                </a:solidFill>
              </a:rPr>
              <a:t>使用者管理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2280" y="1865376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daloRADIUS 新增帳號 → 可正常登入 portal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2304288"/>
            <a:ext cx="5669280" cy="749808"/>
          </a:xfrm>
          <a:prstGeom prst="rect">
            <a:avLst/>
          </a:prstGeom>
          <a:solidFill>
            <a:srgbClr val="EAF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217920" y="2304288"/>
            <a:ext cx="502920" cy="7498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91072" y="24688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235915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6E"/>
                </a:solidFill>
              </a:rPr>
              <a:t>Portal 客製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2706624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客製 HTML + logo，client 看到新介面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3145536"/>
            <a:ext cx="5669280" cy="749808"/>
          </a:xfrm>
          <a:prstGeom prst="rect">
            <a:avLst/>
          </a:prstGeom>
          <a:solidFill>
            <a:srgbClr val="EAF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217920" y="3145536"/>
            <a:ext cx="502920" cy="7498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291072" y="331012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12280" y="32004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6E"/>
                </a:solidFill>
              </a:rPr>
              <a:t>WISPr 限速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12280" y="354787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1Mbps → wget 1MB 實測 8.0s（~125 KB/s）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0" y="3986784"/>
            <a:ext cx="5669280" cy="749808"/>
          </a:xfrm>
          <a:prstGeom prst="rect">
            <a:avLst/>
          </a:prstGeom>
          <a:solidFill>
            <a:srgbClr val="EAF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217920" y="3986784"/>
            <a:ext cx="502920" cy="7498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291072" y="41513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12280" y="404164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6E"/>
                </a:solidFill>
              </a:rPr>
              <a:t>Firewall Deny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12280" y="438912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未認證 client 送 SSH port 22 → nftables 擋掉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17920" y="4828032"/>
            <a:ext cx="5669280" cy="749808"/>
          </a:xfrm>
          <a:prstGeom prst="rect">
            <a:avLst/>
          </a:prstGeom>
          <a:solidFill>
            <a:srgbClr val="EAF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217920" y="4828032"/>
            <a:ext cx="502920" cy="7498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291072" y="499262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12280" y="488289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6E"/>
                </a:solidFill>
              </a:rPr>
              <a:t>CoA 踢人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12280" y="5230368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</a:rPr>
              <a:t>Disconnect-ACK 收到，acctcause=Admin-Reset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320" y="6473952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722A"/>
                </a:solidFill>
              </a:rPr>
              <a:t>★  v1 MVP 全數通過 — 可示範、可交付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後續 v2 規劃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722A"/>
                </a:solidFill>
              </a:rPr>
              <a:t>Cellular WAN + 壓測 + 監控 + 安全加固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5669280" cy="2377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5669280" cy="457200"/>
          </a:xfrm>
          <a:prstGeom prst="rect">
            <a:avLst/>
          </a:prstGeom>
          <a:solidFill>
            <a:srgbClr val="16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51790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📡  Cellular WAN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</a:rPr>
              <a:t>▸  mmcli -L 列舉 modem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5973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</a:rPr>
              <a:t>▸  mmcli -m 0 --simple-connect apn=internet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6207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</a:rPr>
              <a:t>▸  systemd unit 監控 wwan0 斷線重連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6440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</a:rPr>
              <a:t>▸  08-cellular.sh（目前為 stub）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5669280" cy="2377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463040"/>
            <a:ext cx="5669280" cy="4572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51790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🔀  WAN Failover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057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</a:rPr>
              <a:t>▸  keepalived + track_script ping 偵測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45973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</a:rPr>
              <a:t>▸  eth0 斷 → wwan0 接管 default route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86207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</a:rPr>
              <a:t>▸  切換時 conntrack -F flush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26440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</a:rPr>
              <a:t>▸  failover &lt; 30s 目標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977640"/>
            <a:ext cx="5669280" cy="2377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4320" y="3977640"/>
            <a:ext cx="5669280" cy="457200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403250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🔬  壓力測試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572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</a:rPr>
              <a:t>▸  100 client 同時登入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97433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</a:rPr>
              <a:t>▸  iperf3 throughput ≥ 1 Gbps（有線）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37667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</a:rPr>
              <a:t>▸  72 hr 連續跑 RAM / CPU / conntrack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77900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</a:rPr>
              <a:t>▸  radacct 資料完整性驗證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977640"/>
            <a:ext cx="5669280" cy="2377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17920" y="3977640"/>
            <a:ext cx="566928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55080" y="403250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🔒  安全加固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572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</a:rPr>
              <a:t>▸  daloRADIUS admin 密碼改掉（現在是 radius）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97433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</a:rPr>
              <a:t>▸  self-signed → Let's Encrypt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37667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</a:rPr>
              <a:t>▸  SNMP v3 createUser / rouser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77900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</a:rPr>
              <a:t>▸  rsyslog 遠端轉送 @@&lt;syslog-server&gt;:514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1400</Words>
  <Application>Microsoft Office PowerPoint</Application>
  <PresentationFormat>自訂</PresentationFormat>
  <Paragraphs>318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Andy Chu (朱世傑)</cp:lastModifiedBy>
  <cp:revision>2</cp:revision>
  <dcterms:created xsi:type="dcterms:W3CDTF">2013-01-27T09:14:16Z</dcterms:created>
  <dcterms:modified xsi:type="dcterms:W3CDTF">2026-05-04T04:29:00Z</dcterms:modified>
  <cp:category/>
</cp:coreProperties>
</file>